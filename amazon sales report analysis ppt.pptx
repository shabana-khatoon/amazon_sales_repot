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70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57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7A094-5A96-4D6D-906A-04AA7474A3B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C3132-C349-4665-8036-556A2713B8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7616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7A094-5A96-4D6D-906A-04AA7474A3B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C3132-C349-4665-8036-556A2713B8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4964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7A094-5A96-4D6D-906A-04AA7474A3B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C3132-C349-4665-8036-556A2713B8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464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7A094-5A96-4D6D-906A-04AA7474A3B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C3132-C349-4665-8036-556A2713B8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6190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7A094-5A96-4D6D-906A-04AA7474A3B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C3132-C349-4665-8036-556A2713B8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229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7A094-5A96-4D6D-906A-04AA7474A3B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C3132-C349-4665-8036-556A2713B8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975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7A094-5A96-4D6D-906A-04AA7474A3B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C3132-C349-4665-8036-556A2713B8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30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7A094-5A96-4D6D-906A-04AA7474A3B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C3132-C349-4665-8036-556A2713B8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9094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7A094-5A96-4D6D-906A-04AA7474A3B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C3132-C349-4665-8036-556A2713B8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1172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7A094-5A96-4D6D-906A-04AA7474A3B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C3132-C349-4665-8036-556A2713B8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963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7A094-5A96-4D6D-906A-04AA7474A3B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C3132-C349-4665-8036-556A2713B8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47931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7A094-5A96-4D6D-906A-04AA7474A3B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C3132-C349-4665-8036-556A2713B8B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9790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7A094-5A96-4D6D-906A-04AA7474A3B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C3132-C349-4665-8036-556A2713B8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54456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7A094-5A96-4D6D-906A-04AA7474A3B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C3132-C349-4665-8036-556A2713B8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10773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7A094-5A96-4D6D-906A-04AA7474A3B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C3132-C349-4665-8036-556A2713B8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6237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7A094-5A96-4D6D-906A-04AA7474A3B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C3132-C349-4665-8036-556A2713B8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14984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7A094-5A96-4D6D-906A-04AA7474A3B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C3132-C349-4665-8036-556A2713B8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576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127A094-5A96-4D6D-906A-04AA7474A3B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C3132-C349-4665-8036-556A2713B8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44213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6D4D8-7C17-4DCD-96E1-459C411A6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4320"/>
            <a:ext cx="10515600" cy="5902643"/>
          </a:xfrm>
        </p:spPr>
        <p:txBody>
          <a:bodyPr/>
          <a:lstStyle/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Sales Report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 – Shabana Khatoon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to –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innobyte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services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– 27/10/2025</a:t>
            </a:r>
          </a:p>
        </p:txBody>
      </p:sp>
    </p:spTree>
    <p:extLst>
      <p:ext uri="{BB962C8B-B14F-4D97-AF65-F5344CB8AC3E}">
        <p14:creationId xmlns:p14="http://schemas.microsoft.com/office/powerpoint/2010/main" val="3103502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75E68-A875-4078-AEF4-266C187051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25906" y="468873"/>
            <a:ext cx="3558988" cy="929621"/>
          </a:xfrm>
        </p:spPr>
        <p:txBody>
          <a:bodyPr>
            <a:norm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Sales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4F08CA-D9FF-4933-AA30-CEA5C1E2FF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2330" y="1780429"/>
            <a:ext cx="9144000" cy="4683124"/>
          </a:xfrm>
        </p:spPr>
        <p:txBody>
          <a:bodyPr/>
          <a:lstStyle/>
          <a:p>
            <a:pPr algn="l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Metrics</a:t>
            </a:r>
          </a:p>
          <a:p>
            <a:pPr algn="l"/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Sales: INR 78,590,170.25</a:t>
            </a:r>
          </a:p>
          <a:p>
            <a:pPr algn="l"/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Orders: 112,887</a:t>
            </a:r>
          </a:p>
          <a:p>
            <a:pPr algn="l"/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Quantity: 116,479</a:t>
            </a:r>
          </a:p>
          <a:p>
            <a:pPr algn="l"/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Order Value (AOV): INR 696.18</a:t>
            </a:r>
          </a:p>
          <a:p>
            <a:pPr algn="l"/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Range: 2022-03-31 to 2022-06-29</a:t>
            </a:r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4835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A478A-19A6-4741-8CC3-4957E62FC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682"/>
            <a:ext cx="10515600" cy="528918"/>
          </a:xfrm>
        </p:spPr>
        <p:txBody>
          <a:bodyPr>
            <a:norm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Codes for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CE4A0-8E2B-4EB4-94C8-AB5730395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9601"/>
            <a:ext cx="10515600" cy="6248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MariaDB [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amazon_sale_report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]&gt; CREATE TABLE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amazon_sales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-&gt;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VARCHAR(50),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-&gt;     `Date` DATE,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-&gt;     status VARCHAR(50),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-&gt;     `fulfilment method` VARCHAR(70),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-&gt;     `sales Channel` VARCHAR(50),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-&gt;     `product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catagory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 VARCHAR(100),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-&gt;     size VARCHAR(10),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-&gt;     quantity INT,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-&gt;     amount DECIMAL(10,2),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-&gt;     `shipping details` VARCHAR(15)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-&gt; );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OK, 0 rows affected (0.010 sec)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MariaDB [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amazon_sale_report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]&gt; LOAD DATA INFILE "C:/Users/shabana/Downloads/Amazon_Sale_Report.csv"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-&gt; INTO TABLE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amazon_sales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-&gt; FIELDS TERMINATED BY ','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-&gt; ENCLOSED BY '"'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-&gt; LINES TERMINATED BY '\n'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-&gt; IGNORE 1 ROWS;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OK, 128976 rows affected, 65535 warnings (1.983 sec)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Records: 128976  Deleted: 0  Skipped: 0  Warnings: 515904</a:t>
            </a:r>
          </a:p>
        </p:txBody>
      </p:sp>
    </p:spTree>
    <p:extLst>
      <p:ext uri="{BB962C8B-B14F-4D97-AF65-F5344CB8AC3E}">
        <p14:creationId xmlns:p14="http://schemas.microsoft.com/office/powerpoint/2010/main" val="2274986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EE789-08E9-401E-9523-ABC450BE7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4049"/>
            <a:ext cx="10515600" cy="650258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MariaDB [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amazon_sale_report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]&gt; SELECT * FROM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amazon_sales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LIMIT 10;</a:t>
            </a:r>
          </a:p>
          <a:p>
            <a:pPr marL="0" indent="0"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+----------+------------+----------+------------------------------+---------------+------------------+-----------+----------+--------+------------------+</a:t>
            </a:r>
          </a:p>
          <a:p>
            <a:pPr marL="0" indent="0"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Date       | status   | fulfilment method            | sales Channel | product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catagory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size      | quantity | amount | shipping details |</a:t>
            </a:r>
          </a:p>
          <a:p>
            <a:pPr marL="0" indent="0"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+----------+------------+----------+------------------------------+---------------+------------------+-----------+----------+--------+------------------+</a:t>
            </a:r>
          </a:p>
          <a:p>
            <a:pPr marL="0" indent="0"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0        | 0000-00-00 | 04-30-22 | Cancelled                    | Merchant      | Amazon.in        | Standard  |        0 |   0.00 | On the Way       |</a:t>
            </a:r>
          </a:p>
          <a:p>
            <a:pPr marL="0" indent="0"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1        | 0000-00-00 | 04-30-22 | Shipped - Delivered to Buyer | Merchant      | Amazon.in        | Standard  |        0 |   3.00 | Shipped          |</a:t>
            </a:r>
          </a:p>
          <a:p>
            <a:pPr marL="0" indent="0"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2        | 0000-00-00 | 04-30-22 | Shipped                      | Amazon        | Amazon.in        | Expedited |        0 |   0.00 | Shipped          |</a:t>
            </a:r>
          </a:p>
          <a:p>
            <a:pPr marL="0" indent="0"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3        | 0000-00-00 | 04-30-22 | Cancelled                    | Merchant      | Amazon.in        | Standard  |        0 |   0.00 | On the Way       |</a:t>
            </a:r>
          </a:p>
          <a:p>
            <a:pPr marL="0" indent="0"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4        | 0000-00-00 | 04-30-22 | Shipped                      | Amazon        | Amazon.in        | Expedited |        0 |   3.00 | Shipped          |</a:t>
            </a:r>
          </a:p>
          <a:p>
            <a:pPr marL="0" indent="0"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5        | 0000-00-00 | 04-30-22 | Shipped                      | Amazon        | Amazon.in        | Expedited |        0 |   0.00 | Shipped          |</a:t>
            </a:r>
          </a:p>
          <a:p>
            <a:pPr marL="0" indent="0"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6        | 0000-00-00 | 04-30-22 | Shipped                      | Amazon        | Amazon.in        | Expedited |        0 |   0.00 | Shipped          |</a:t>
            </a:r>
          </a:p>
          <a:p>
            <a:pPr marL="0" indent="0"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7        | 0000-00-00 | 04-30-22 | Shipped - Delivered to Buyer | Merchant      | Amazon.in        | Standard  |        0 |   0.00 | Shipped          |</a:t>
            </a:r>
          </a:p>
          <a:p>
            <a:pPr marL="0" indent="0"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8        | 0000-00-00 | 04-30-22 | Cancelled                    | Amazon        | Amazon.in        | Expedited |        0 |   3.00 | Cancelled        |</a:t>
            </a:r>
          </a:p>
          <a:p>
            <a:pPr marL="0" indent="0"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9        | 0000-00-00 | 04-30-22 | Shipped                      | Amazon        | Amazon.in        | Expedited |        0 |   0.00 | Shipped          |</a:t>
            </a:r>
          </a:p>
          <a:p>
            <a:pPr marL="0" indent="0"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+----------+------------+----------+------------------------------+---------------+------------------+-----------+----------+--------+------------------+</a:t>
            </a:r>
          </a:p>
        </p:txBody>
      </p:sp>
    </p:spTree>
    <p:extLst>
      <p:ext uri="{BB962C8B-B14F-4D97-AF65-F5344CB8AC3E}">
        <p14:creationId xmlns:p14="http://schemas.microsoft.com/office/powerpoint/2010/main" val="297245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9A392-66BE-49AB-98A3-4BBAB170D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471"/>
            <a:ext cx="10515600" cy="60424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MariaDB [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amazon_sale_report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]&gt; DESCRIBE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amazon_sales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+-------------------+---------------+------+-----+---------+-------+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Field             | Type          | Null | Key | Default | Extra |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+-------------------+---------------+------+-----+---------+-------+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| varchar(50)   | YES  |     | NULL    |       |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Date              | date          | YES  |     | NULL    |       |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status            | varchar(50)   | YES  |     | NULL    |       |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fulfilment method | varchar(70)   | YES  |     | NULL    |       |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sales Channel     | varchar(50)   | YES  |     | NULL    |       |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product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catagory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| varchar(100)  | YES  |     | NULL    |       |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size              | varchar(10)   | YES  |     | NULL    |       |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quantity          | int(11)       | YES  |     | NULL    |       |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amount            | decimal(10,2) | YES  |     | NULL    |       |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shipping details  | varchar(15)   | YES  |     | NULL    |       |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+-------------------+---------------+------+-----+---------+-------+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rows in set (0.042 sec)</a:t>
            </a:r>
          </a:p>
        </p:txBody>
      </p:sp>
    </p:spTree>
    <p:extLst>
      <p:ext uri="{BB962C8B-B14F-4D97-AF65-F5344CB8AC3E}">
        <p14:creationId xmlns:p14="http://schemas.microsoft.com/office/powerpoint/2010/main" val="2659548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060E1-F113-4B47-BB7F-19B06C781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329"/>
            <a:ext cx="10515600" cy="60066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MariaDB [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amazon_sale_report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]&gt; SELECT COUNT(*) AS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total_rows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indent="0">
              <a:buNone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-&gt;        SUM(CASE WHEN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NULL THEN 1 ELSE 0 END) AS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missing_order_id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indent="0">
              <a:buNone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-&gt;        SUM(CASE WHEN `Date` IS NULL THEN 1 ELSE 0 END) AS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missing_date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indent="0">
              <a:buNone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-&gt;        SUM(CASE WHEN amount IS NULL THEN 1 ELSE 0 END) AS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missing_amount</a:t>
            </a:r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-&gt; FROM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amazon_sales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+------------+------------------+--------------+----------------+</a:t>
            </a:r>
          </a:p>
          <a:p>
            <a:pPr marL="0" indent="0">
              <a:buNone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total_rows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missing_order_id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missing_date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missing_amount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</a:t>
            </a:r>
          </a:p>
          <a:p>
            <a:pPr marL="0" indent="0">
              <a:buNone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+------------+------------------+--------------+----------------+</a:t>
            </a:r>
          </a:p>
          <a:p>
            <a:pPr marL="0" indent="0">
              <a:buNone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    128976 |                0 |            0 |              0 |</a:t>
            </a:r>
          </a:p>
          <a:p>
            <a:pPr marL="0" indent="0">
              <a:buNone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+------------+------------------+--------------+----------------+</a:t>
            </a:r>
          </a:p>
          <a:p>
            <a:pPr marL="0" indent="0">
              <a:buNone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row in set (0.287 sec)</a:t>
            </a:r>
          </a:p>
          <a:p>
            <a:pPr marL="0" indent="0">
              <a:buNone/>
            </a:pPr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MariaDB [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amazon_sale_report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]&gt; SELECT SUM(amount) AS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total_sales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amazon_sales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+-------------+</a:t>
            </a:r>
          </a:p>
          <a:p>
            <a:pPr marL="0" indent="0">
              <a:buNone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total_sales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</a:t>
            </a:r>
          </a:p>
          <a:p>
            <a:pPr marL="0" indent="0">
              <a:buNone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+-------------+</a:t>
            </a:r>
          </a:p>
          <a:p>
            <a:pPr marL="0" indent="0">
              <a:buNone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   52815.00 |</a:t>
            </a:r>
          </a:p>
          <a:p>
            <a:pPr marL="0" indent="0">
              <a:buNone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+-------------+</a:t>
            </a:r>
          </a:p>
          <a:p>
            <a:pPr marL="0" indent="0">
              <a:buNone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row in set (0.129 sec)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0780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78359-B1E7-4CF6-84DB-904E0C988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365"/>
            <a:ext cx="10515600" cy="601559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MariaDB [</a:t>
            </a:r>
            <a:r>
              <a:rPr lang="en-GB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amazon_sale_report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]&gt; SELECT COUNT(</a:t>
            </a:r>
            <a:r>
              <a:rPr lang="en-GB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GB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total_orders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</a:t>
            </a:r>
            <a:r>
              <a:rPr lang="en-GB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amazon_sales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+--------------+</a:t>
            </a:r>
          </a:p>
          <a:p>
            <a:pPr marL="0" indent="0">
              <a:buNone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GB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total_orders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</a:t>
            </a:r>
          </a:p>
          <a:p>
            <a:pPr marL="0" indent="0">
              <a:buNone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+--------------+</a:t>
            </a:r>
          </a:p>
          <a:p>
            <a:pPr marL="0" indent="0">
              <a:buNone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      128976 |</a:t>
            </a:r>
          </a:p>
          <a:p>
            <a:pPr marL="0" indent="0">
              <a:buNone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+--------------+</a:t>
            </a:r>
          </a:p>
          <a:p>
            <a:pPr marL="0" indent="0">
              <a:buNone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row in set (0.117 sec)</a:t>
            </a:r>
          </a:p>
          <a:p>
            <a:pPr marL="0" indent="0">
              <a:buNone/>
            </a:pPr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MariaDB [</a:t>
            </a:r>
            <a:r>
              <a:rPr lang="en-GB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amazon_sale_report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]&gt; SELECT DATE_FORMAT(`Date`, '%Y-%m') AS month,</a:t>
            </a:r>
          </a:p>
          <a:p>
            <a:pPr marL="0" indent="0">
              <a:buNone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-&gt;        SUM(amount) AS </a:t>
            </a:r>
            <a:r>
              <a:rPr lang="en-GB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monthly_sales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indent="0">
              <a:buNone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-&gt;        COUNT(</a:t>
            </a:r>
            <a:r>
              <a:rPr lang="en-GB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GB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orders_count</a:t>
            </a:r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-&gt; FROM </a:t>
            </a:r>
            <a:r>
              <a:rPr lang="en-GB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amazon_sales</a:t>
            </a:r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-&gt; GROUP BY month</a:t>
            </a:r>
          </a:p>
          <a:p>
            <a:pPr marL="0" indent="0">
              <a:buNone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-&gt; ORDER BY month;</a:t>
            </a:r>
          </a:p>
          <a:p>
            <a:pPr marL="0" indent="0">
              <a:buNone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+---------+---------------+--------------+</a:t>
            </a:r>
          </a:p>
          <a:p>
            <a:pPr marL="0" indent="0">
              <a:buNone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month   | </a:t>
            </a:r>
            <a:r>
              <a:rPr lang="en-GB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monthly_sales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GB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orders_count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</a:t>
            </a:r>
          </a:p>
          <a:p>
            <a:pPr marL="0" indent="0">
              <a:buNone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+---------+---------------+--------------+</a:t>
            </a:r>
          </a:p>
          <a:p>
            <a:pPr marL="0" indent="0">
              <a:buNone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0000-00 |      52815.00 |       128976 |</a:t>
            </a:r>
          </a:p>
          <a:p>
            <a:pPr marL="0" indent="0">
              <a:buNone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+---------+---------------+--------------+</a:t>
            </a:r>
          </a:p>
          <a:p>
            <a:pPr marL="0" indent="0">
              <a:buNone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row in set (0.312 sec)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6965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A14E3-D3A1-42F6-9BAF-4917DA3B1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5153"/>
            <a:ext cx="10515600" cy="596181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MariaDB [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amazon_sale_report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]&gt; SELECT `product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catagory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`, SUM(amount) AS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total_sales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COUNT(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orders_count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-&gt; FROM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amazon_sales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-&gt; GROUP BY `product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catagory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-&gt; ORDER BY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total_sales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-&gt; LIMIT 10;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+------------------+-------------+--------------+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product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catagory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total_sales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orders_count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+------------------+-------------+--------------+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Amazon.in        |    52765.00 |       128852 |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Non-Amazon       |       50.00 |          124 |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+------------------+-------------+--------------+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rows in set (0.372 sec)</a:t>
            </a:r>
          </a:p>
          <a:p>
            <a:pPr marL="0" indent="0">
              <a:buNone/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MariaDB [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amazon_sale_report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]&gt; SELECT size, SUM(quantity) AS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total_quantity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-&gt; FROM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amazon_sales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-&gt; GROUP BY size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-&gt; ORDER BY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total_quantity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DESC;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+-----------+----------------+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size      |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total_quantity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+-----------+----------------+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Standard  |              0 |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Expedited |              0 |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+-----------+----------------+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rows in set (0.353 sec)</a:t>
            </a:r>
          </a:p>
        </p:txBody>
      </p:sp>
    </p:spTree>
    <p:extLst>
      <p:ext uri="{BB962C8B-B14F-4D97-AF65-F5344CB8AC3E}">
        <p14:creationId xmlns:p14="http://schemas.microsoft.com/office/powerpoint/2010/main" val="2087246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E7948-3CBF-4E20-B676-280F6D165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5153"/>
            <a:ext cx="10515600" cy="59618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MariaDB [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amazon_sale_report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]&gt; SELECT `product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catagory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`, size, SUM(quantity) AS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total_quantity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-&gt; FROM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amazon_sales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-&gt; GROUP BY `product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catagory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`, size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-&gt; ORDER BY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total_quantity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-&gt; LIMIT 10;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+------------------+-----------+----------------+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product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catagory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size      |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total_quantity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+------------------+-----------+----------------+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Amazon.in        | Standard  |              0 |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Non-Amazon       | Standard  |              0 |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Amazon.in        | Expedited |              0 |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+------------------+-----------+----------------+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rows in set (0.460 sec)</a:t>
            </a:r>
          </a:p>
        </p:txBody>
      </p:sp>
    </p:spTree>
    <p:extLst>
      <p:ext uri="{BB962C8B-B14F-4D97-AF65-F5344CB8AC3E}">
        <p14:creationId xmlns:p14="http://schemas.microsoft.com/office/powerpoint/2010/main" val="1948540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06E14-97D1-45EC-9EBA-E1DAF9DFF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188"/>
            <a:ext cx="10515600" cy="5970775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MariaDB [</a:t>
            </a:r>
            <a:r>
              <a:rPr lang="en-IN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amazon_sale_report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]&gt; SELECT `fulfilment method`, COUNT(</a:t>
            </a:r>
            <a:r>
              <a:rPr lang="en-IN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IN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orders_count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SUM(amount) AS </a:t>
            </a:r>
            <a:r>
              <a:rPr lang="en-IN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total_sales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-&gt; FROM </a:t>
            </a:r>
            <a:r>
              <a:rPr lang="en-IN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amazon_sales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-&gt; GROUP BY `fulfilment method`</a:t>
            </a:r>
          </a:p>
          <a:p>
            <a:pPr marL="0" indent="0"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-&gt; ORDER BY </a:t>
            </a:r>
            <a:r>
              <a:rPr lang="en-IN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orders_count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DESC;</a:t>
            </a:r>
          </a:p>
          <a:p>
            <a:pPr marL="0" indent="0"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+-------------------------------+--------------+-------------+</a:t>
            </a:r>
          </a:p>
          <a:p>
            <a:pPr marL="0" indent="0"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fulfilment method             | </a:t>
            </a:r>
            <a:r>
              <a:rPr lang="en-IN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orders_count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IN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total_sales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</a:t>
            </a:r>
          </a:p>
          <a:p>
            <a:pPr marL="0" indent="0"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+-------------------------------+--------------+-------------+</a:t>
            </a:r>
          </a:p>
          <a:p>
            <a:pPr marL="0" indent="0"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Shipped                       |        77815 |    32454.00 |</a:t>
            </a:r>
          </a:p>
          <a:p>
            <a:pPr marL="0" indent="0"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Shipped - Delivered to Buyer  |        28756 |    12336.00 |</a:t>
            </a:r>
          </a:p>
          <a:p>
            <a:pPr marL="0" indent="0"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Cancelled                     |        18334 |     6446.00 |</a:t>
            </a:r>
          </a:p>
          <a:p>
            <a:pPr marL="0" indent="0"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Shipped - Returned to Seller  |         1954 |      750.00 |</a:t>
            </a:r>
          </a:p>
          <a:p>
            <a:pPr marL="0" indent="0"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Shipped - Picked Up           |          973 |      405.00 |</a:t>
            </a:r>
          </a:p>
          <a:p>
            <a:pPr marL="0" indent="0"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Pending                       |          658 |      246.00 |</a:t>
            </a:r>
          </a:p>
          <a:p>
            <a:pPr marL="0" indent="0"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Pending - Waiting for Pick Up |          281 |      113.00 |</a:t>
            </a:r>
          </a:p>
          <a:p>
            <a:pPr marL="0" indent="0"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Shipped - Returning to Seller |          145 |       53.00 |</a:t>
            </a:r>
          </a:p>
          <a:p>
            <a:pPr marL="0" indent="0"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Shipped - Out for Delivery    |           35 |        3.00 |</a:t>
            </a:r>
          </a:p>
          <a:p>
            <a:pPr marL="0" indent="0"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Shipped - Rejected by Buyer   |           11 |        3.00 |</a:t>
            </a:r>
          </a:p>
          <a:p>
            <a:pPr marL="0" indent="0"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Shipping                      |            8 |        3.00 |</a:t>
            </a:r>
          </a:p>
          <a:p>
            <a:pPr marL="0" indent="0"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Shipped - Lost in Transit     |            5 |        0.00 |</a:t>
            </a:r>
          </a:p>
          <a:p>
            <a:pPr marL="0" indent="0"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Shipped - Damaged             |            1 |        3.00 |</a:t>
            </a:r>
          </a:p>
          <a:p>
            <a:pPr marL="0" indent="0"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+-------------------------------+--------------+-------------+</a:t>
            </a:r>
          </a:p>
          <a:p>
            <a:pPr marL="0" indent="0"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 rows in set (0.467 sec)</a:t>
            </a:r>
          </a:p>
        </p:txBody>
      </p:sp>
    </p:spTree>
    <p:extLst>
      <p:ext uri="{BB962C8B-B14F-4D97-AF65-F5344CB8AC3E}">
        <p14:creationId xmlns:p14="http://schemas.microsoft.com/office/powerpoint/2010/main" val="2336064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3F929-B15A-4D3D-A9A2-B5779A88B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"/>
            <a:ext cx="10515600" cy="5872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MariaDB [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amazon_sale_report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]&gt; SELECT status, COUNT(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orders_count</a:t>
            </a:r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-&gt; FROM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amazon_sales</a:t>
            </a:r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-&gt; GROUP BY status;</a:t>
            </a:r>
          </a:p>
          <a:p>
            <a:pPr marL="0" indent="0">
              <a:buNone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Ans- 91 rows in set (0.295 sec)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MariaDB [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amazon_sale_report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]&gt; SELECT `sales Channel`, COUNT(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orders_count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SUM(amount) AS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total_sales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-&gt; FROM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amazon_sales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-&gt; GROUP BY `sales Channel`;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+---------------+--------------+-------------+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sales Channel |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orders_count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total_sales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+---------------+--------------+-------------+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Amazon        |        89713 |    36505.00 |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Merchant      |        39263 |    16310.00 |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+---------------+--------------+-------------+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rows in set (0.357 sec)</a:t>
            </a:r>
          </a:p>
        </p:txBody>
      </p:sp>
    </p:spTree>
    <p:extLst>
      <p:ext uri="{BB962C8B-B14F-4D97-AF65-F5344CB8AC3E}">
        <p14:creationId xmlns:p14="http://schemas.microsoft.com/office/powerpoint/2010/main" val="3322626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D0A78-AF90-4E0F-8EF6-3B394753D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920"/>
            <a:ext cx="10515600" cy="60550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MariaDB [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amazon_sale_report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]&gt; SELECT `shipping details`, COUNT(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orders_count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SUM(amount) AS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total_sales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-&gt; FROM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amazon_sales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-&gt; GROUP BY `shipping details`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-&gt; ORDER BY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total_sales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DESC;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+------------------+--------------+-------------+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shipping details |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orders_count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total_sales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+------------------+--------------+-------------+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Shipped          |       109486 |    45931.00 |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On the Way       |         6870 |     2552.00 |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Unshipped        |         6680 |     2271.00 |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Cancelled        |         5940 |     2061.00 |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+------------------+--------------+-------------+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rows in set (0.382 sec)</a:t>
            </a:r>
          </a:p>
        </p:txBody>
      </p:sp>
    </p:spTree>
    <p:extLst>
      <p:ext uri="{BB962C8B-B14F-4D97-AF65-F5344CB8AC3E}">
        <p14:creationId xmlns:p14="http://schemas.microsoft.com/office/powerpoint/2010/main" val="1046602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5E49B-924E-458D-92BB-6110ED156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2EC776-12F5-4B87-B962-031BE0DEB4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57" y="1152983"/>
            <a:ext cx="8947150" cy="4295023"/>
          </a:xfrm>
        </p:spPr>
      </p:pic>
    </p:spTree>
    <p:extLst>
      <p:ext uri="{BB962C8B-B14F-4D97-AF65-F5344CB8AC3E}">
        <p14:creationId xmlns:p14="http://schemas.microsoft.com/office/powerpoint/2010/main" val="32970958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79165-FC7F-447E-BF8A-AB3FB3EB3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8F4C2-4C72-4EF1-824D-F1C2F99E5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top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catagories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Blazers and perfumes are the top revenue drivers. Ensure marketing focus on these two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catagories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Investigate trends </a:t>
            </a:r>
          </a:p>
          <a:p>
            <a:pPr marL="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the peak sales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peiod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replicate strategies to increase overall sales amount.</a:t>
            </a:r>
          </a:p>
        </p:txBody>
      </p:sp>
    </p:spTree>
    <p:extLst>
      <p:ext uri="{BB962C8B-B14F-4D97-AF65-F5344CB8AC3E}">
        <p14:creationId xmlns:p14="http://schemas.microsoft.com/office/powerpoint/2010/main" val="13750660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31</TotalTime>
  <Words>1756</Words>
  <Application>Microsoft Office PowerPoint</Application>
  <PresentationFormat>Widescreen</PresentationFormat>
  <Paragraphs>209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Century Gothic</vt:lpstr>
      <vt:lpstr>Times New Roman</vt:lpstr>
      <vt:lpstr>Wingdings 3</vt:lpstr>
      <vt:lpstr>Ion</vt:lpstr>
      <vt:lpstr>PowerPoint Presentation</vt:lpstr>
      <vt:lpstr>Amazon Sales Report</vt:lpstr>
      <vt:lpstr>SQL Codes for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Analysis</vt:lpstr>
      <vt:lpstr>Recommendations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Sales Report</dc:title>
  <dc:creator>shabana1103math@gmail.com</dc:creator>
  <cp:lastModifiedBy>shabana1103math@gmail.com</cp:lastModifiedBy>
  <cp:revision>5</cp:revision>
  <dcterms:created xsi:type="dcterms:W3CDTF">2025-10-27T16:18:29Z</dcterms:created>
  <dcterms:modified xsi:type="dcterms:W3CDTF">2025-10-27T16:50:05Z</dcterms:modified>
</cp:coreProperties>
</file>